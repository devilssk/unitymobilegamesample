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sensortower.com/blog/h1-2026-digital-gaming-market-index" TargetMode="External"/><Relationship Id="rId2" Type="http://schemas.openxmlformats.org/officeDocument/2006/relationships/hyperlink" Target="https://www.testerscommunity.com/research/fastest-growing-categories" TargetMode="External"/><Relationship Id="rId3" Type="http://schemas.openxmlformats.org/officeDocument/2006/relationships/hyperlink" Target="https://gamedevreports.substack.com/p/appmagic-mobile-casual-games-in-h1" TargetMode="External"/><Relationship Id="rId4" Type="http://schemas.openxmlformats.org/officeDocument/2006/relationships/hyperlink" Target="https://www.appbrain.com/stats/google-play-rankings/top_free/game/fr" TargetMode="External"/><Relationship Id="rId5" Type="http://schemas.openxmlformats.org/officeDocument/2006/relationships/hyperlink" Target="https://apps.apple.com/fr/app/meowdoku/id6761760135?see-all=reviews" TargetMode="External"/><Relationship Id="rId6" Type="http://schemas.openxmlformats.org/officeDocument/2006/relationships/hyperlink" Target="https://developer.apple.com/app-store/product-page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DÉPART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 « le même jeu, en mieux » ne suffit plus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12064" y="111556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première bataille se joue sur la découverte : une excellente expérience ne garantit pas d’être trouvée.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ÉTUDE DE MARCHÉ  •  OCTOBRE 2026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100816" y="6583680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07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12064" y="1865376"/>
            <a:ext cx="3602736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21408"/>
            <a:ext cx="3154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Md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127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installations de jeux mobiles au S1 2026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26440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−11,9 % vs S1 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4256" y="1865376"/>
            <a:ext cx="3602736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121408"/>
            <a:ext cx="3154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Md$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4553712" y="2697480"/>
            <a:ext cx="3127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dépenses publicitaires gaming au S1 2026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53712" y="326440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4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+8 % en un 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6448" y="1865376"/>
            <a:ext cx="3602736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2121408"/>
            <a:ext cx="3154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84,5 %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8375904" y="2697480"/>
            <a:ext cx="3127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apps publiées en 2026 sur Google Play étudiées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75904" y="326440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restent sous 1 000 installs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" y="4041648"/>
            <a:ext cx="11164824" cy="153619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242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les leaders restent visibles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9808" y="4645152"/>
            <a:ext cx="10625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9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Popularité historique, installations, fidélisation, qualité technique, marque, budgets d’acquisition et mises à jour : les classements ne sont pas simplement « gérés par des bots ». Les annonces sont payantes ; les résultats naturels obéissent à des signaux de pertinence et de qualité.</a:t>
            </a:r>
            <a:endParaRPr lang="en-US" sz="1290" dirty="0"/>
          </a:p>
        </p:txBody>
      </p:sp>
      <p:sp>
        <p:nvSpPr>
          <p:cNvPr id="23" name="Shape 21"/>
          <p:cNvSpPr/>
          <p:nvPr/>
        </p:nvSpPr>
        <p:spPr>
          <a:xfrm>
            <a:off x="530352" y="5769864"/>
            <a:ext cx="6419088" cy="292608"/>
          </a:xfrm>
          <a:prstGeom prst="roundRect">
            <a:avLst>
              <a:gd name="adj" fmla="val 25000"/>
            </a:avLst>
          </a:prstGeom>
          <a:solidFill>
            <a:srgbClr val="F2E2D8"/>
          </a:solidFill>
          <a:ln w="12700">
            <a:solidFill>
              <a:srgbClr val="F2E2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5792724"/>
            <a:ext cx="6254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THÈSE  →  Chercher une requête ciblée, pas le top 10 général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521208" y="6345936"/>
            <a:ext cx="10927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788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 Sensor Tower H1 2026 ; Testers Community (étude Google Play, 25/08/2026) ; Google Play Discovery</a:t>
            </a:r>
            <a:endParaRPr lang="en-US" sz="7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PANORAMA DU MARCHÉ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grandes familles : taille ET pression concurrentielle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12064" y="111556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Téléchargements : monde / App Store + Google Play, S1 2026. Catalogue : échantillon Google Play au 25 août 2026.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ÉTUDE DE MARCHÉ  •  OCTOBRE 2026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100816" y="6583680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07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12064" y="1737360"/>
            <a:ext cx="11155680" cy="4014216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29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89504" y="19293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INSTALLATIONS S1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10912" y="1929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FICHES GOOGLE PLAY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192938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LANCÉES EN 2026*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0" y="19293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&lt;1 000 INSTALLS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" y="2331720"/>
            <a:ext cx="10917936" cy="548640"/>
          </a:xfrm>
          <a:prstGeom prst="roundRect">
            <a:avLst>
              <a:gd name="adj" fmla="val 11667"/>
            </a:avLst>
          </a:prstGeom>
          <a:solidFill>
            <a:srgbClr val="F6F7F5"/>
          </a:solidFill>
          <a:ln w="12700">
            <a:solidFill>
              <a:srgbClr val="F6F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359152"/>
            <a:ext cx="1755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2926080" y="2359152"/>
            <a:ext cx="1746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5,07 Md</a:t>
            </a:r>
            <a:endParaRPr lang="en-US" sz="1640" dirty="0"/>
          </a:p>
        </p:txBody>
      </p:sp>
      <p:sp>
        <p:nvSpPr>
          <p:cNvPr id="17" name="Text 15"/>
          <p:cNvSpPr/>
          <p:nvPr/>
        </p:nvSpPr>
        <p:spPr>
          <a:xfrm>
            <a:off x="5047488" y="2359152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66 255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7141464" y="2359152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39,9 %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9217152" y="2359152"/>
            <a:ext cx="1362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A94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56,0 %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777240" y="2962656"/>
            <a:ext cx="1755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Arcade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2926080" y="2962656"/>
            <a:ext cx="1746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4,52 Md</a:t>
            </a:r>
            <a:endParaRPr lang="en-US" sz="1640" dirty="0"/>
          </a:p>
        </p:txBody>
      </p:sp>
      <p:sp>
        <p:nvSpPr>
          <p:cNvPr id="22" name="Text 20"/>
          <p:cNvSpPr/>
          <p:nvPr/>
        </p:nvSpPr>
        <p:spPr>
          <a:xfrm>
            <a:off x="5047488" y="2962656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29 094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7141464" y="296265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39,2 %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9217152" y="2962656"/>
            <a:ext cx="1362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A94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66,0 %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658368" y="3538728"/>
            <a:ext cx="10917936" cy="548640"/>
          </a:xfrm>
          <a:prstGeom prst="roundRect">
            <a:avLst>
              <a:gd name="adj" fmla="val 11667"/>
            </a:avLst>
          </a:prstGeom>
          <a:solidFill>
            <a:srgbClr val="F6F7F5"/>
          </a:solidFill>
          <a:ln w="12700">
            <a:solidFill>
              <a:srgbClr val="F6F7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566160"/>
            <a:ext cx="1755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2926080" y="3566160"/>
            <a:ext cx="1746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4,57 Md</a:t>
            </a:r>
            <a:endParaRPr lang="en-US" sz="1640" dirty="0"/>
          </a:p>
        </p:txBody>
      </p:sp>
      <p:sp>
        <p:nvSpPr>
          <p:cNvPr id="28" name="Text 26"/>
          <p:cNvSpPr/>
          <p:nvPr/>
        </p:nvSpPr>
        <p:spPr>
          <a:xfrm>
            <a:off x="5047488" y="3566160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21 880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141464" y="3566160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22,2 %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9217152" y="3566160"/>
            <a:ext cx="1362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24,0 %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777240" y="4169664"/>
            <a:ext cx="1755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Jeux de mots</a:t>
            </a: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2926080" y="4169664"/>
            <a:ext cx="1746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n. p.</a:t>
            </a:r>
            <a:endParaRPr lang="en-US" sz="1640" dirty="0"/>
          </a:p>
        </p:txBody>
      </p:sp>
      <p:sp>
        <p:nvSpPr>
          <p:cNvPr id="33" name="Text 31"/>
          <p:cNvSpPr/>
          <p:nvPr/>
        </p:nvSpPr>
        <p:spPr>
          <a:xfrm>
            <a:off x="5047488" y="4169664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9 330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7141464" y="4169664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28,2 %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9217152" y="4169664"/>
            <a:ext cx="1362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A94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50,1 %</a:t>
            </a:r>
            <a:endParaRPr lang="en-US" sz="1520" dirty="0"/>
          </a:p>
        </p:txBody>
      </p:sp>
      <p:sp>
        <p:nvSpPr>
          <p:cNvPr id="36" name="Shape 34"/>
          <p:cNvSpPr/>
          <p:nvPr/>
        </p:nvSpPr>
        <p:spPr>
          <a:xfrm>
            <a:off x="658368" y="4745736"/>
            <a:ext cx="10917936" cy="548640"/>
          </a:xfrm>
          <a:prstGeom prst="roundRect">
            <a:avLst>
              <a:gd name="adj" fmla="val 11667"/>
            </a:avLst>
          </a:prstGeom>
          <a:solidFill>
            <a:srgbClr val="F6F7F5"/>
          </a:solidFill>
          <a:ln w="12700">
            <a:solidFill>
              <a:srgbClr val="F6F7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773168"/>
            <a:ext cx="1755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Jeux de plateau</a:t>
            </a:r>
            <a:endParaRPr lang="en-US" sz="1440" dirty="0"/>
          </a:p>
        </p:txBody>
      </p:sp>
      <p:sp>
        <p:nvSpPr>
          <p:cNvPr id="38" name="Text 36"/>
          <p:cNvSpPr/>
          <p:nvPr/>
        </p:nvSpPr>
        <p:spPr>
          <a:xfrm>
            <a:off x="2926080" y="4773168"/>
            <a:ext cx="17465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n. p.</a:t>
            </a:r>
            <a:endParaRPr lang="en-US" sz="1640" dirty="0"/>
          </a:p>
        </p:txBody>
      </p:sp>
      <p:sp>
        <p:nvSpPr>
          <p:cNvPr id="39" name="Text 37"/>
          <p:cNvSpPr/>
          <p:nvPr/>
        </p:nvSpPr>
        <p:spPr>
          <a:xfrm>
            <a:off x="5047488" y="4773168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12 231</a:t>
            </a:r>
            <a:endParaRPr lang="en-US" sz="1520" dirty="0"/>
          </a:p>
        </p:txBody>
      </p:sp>
      <p:sp>
        <p:nvSpPr>
          <p:cNvPr id="40" name="Text 38"/>
          <p:cNvSpPr/>
          <p:nvPr/>
        </p:nvSpPr>
        <p:spPr>
          <a:xfrm>
            <a:off x="7141464" y="4773168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28,4 %</a:t>
            </a:r>
            <a:endParaRPr lang="en-US" sz="1520" dirty="0"/>
          </a:p>
        </p:txBody>
      </p:sp>
      <p:sp>
        <p:nvSpPr>
          <p:cNvPr id="41" name="Text 39"/>
          <p:cNvSpPr/>
          <p:nvPr/>
        </p:nvSpPr>
        <p:spPr>
          <a:xfrm>
            <a:off x="9217152" y="4773168"/>
            <a:ext cx="1362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A94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50,3 %</a:t>
            </a:r>
            <a:endParaRPr lang="en-US" sz="1520" dirty="0"/>
          </a:p>
        </p:txBody>
      </p:sp>
      <p:sp>
        <p:nvSpPr>
          <p:cNvPr id="42" name="Shape 40"/>
          <p:cNvSpPr/>
          <p:nvPr/>
        </p:nvSpPr>
        <p:spPr>
          <a:xfrm>
            <a:off x="512064" y="5879592"/>
            <a:ext cx="11155680" cy="292608"/>
          </a:xfrm>
          <a:prstGeom prst="roundRect">
            <a:avLst>
              <a:gd name="adj" fmla="val 25000"/>
            </a:avLst>
          </a:prstGeom>
          <a:solidFill>
            <a:srgbClr val="FEF1D5"/>
          </a:solidFill>
          <a:ln w="12700">
            <a:solidFill>
              <a:srgbClr val="FEF1D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" y="5911596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*Part des fiches datées sorties en 2026, pas un nombre exact de sorties. n. p. = non publié dans cette série mondiale.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521208" y="6345936"/>
            <a:ext cx="10927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788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 Sensor Tower H1 via GameDev Reports ; Testers Community, base de 3 037 501 fiches Google Play</a:t>
            </a:r>
            <a:endParaRPr lang="en-US" sz="7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MÉCANIQUES SOUS PRESSION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milliers de sorties… pour peu de percées mesurables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12064" y="111556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Nouveaux jeux lancés au S1 2026 ; franchissement d’au moins 100 000 $ d’achats intégrés sur un mois.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ÉTUDE DE MARCHÉ  •  OCTOBRE 2026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100816" y="6583680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07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12064" y="1792224"/>
            <a:ext cx="7351776" cy="4087368"/>
          </a:xfrm>
          <a:prstGeom prst="roundRect">
            <a:avLst>
              <a:gd name="adj" fmla="val 3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9339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NOUVEAUX JEUX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5486400" y="19933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 MOINS 100 K$ / MOIS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786384" y="245059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puzzle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49424" y="2514600"/>
            <a:ext cx="2862072" cy="164592"/>
          </a:xfrm>
          <a:prstGeom prst="roundRect">
            <a:avLst>
              <a:gd name="adj" fmla="val 16667"/>
            </a:avLst>
          </a:prstGeom>
          <a:solidFill>
            <a:srgbClr val="E9EDEB"/>
          </a:solidFill>
          <a:ln w="12700">
            <a:solidFill>
              <a:srgbClr val="E9ED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9424" y="2514600"/>
            <a:ext cx="2862072" cy="164592"/>
          </a:xfrm>
          <a:prstGeom prst="roundRect">
            <a:avLst>
              <a:gd name="adj" fmla="val 16667"/>
            </a:avLst>
          </a:prstGeom>
          <a:solidFill>
            <a:srgbClr val="D2510F"/>
          </a:solidFill>
          <a:ln w="12700">
            <a:solidFill>
              <a:srgbClr val="D251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45059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2 044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5989320" y="245059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94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2/2044  •  0,10 %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304495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puzzle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249424" y="3108960"/>
            <a:ext cx="2862072" cy="164592"/>
          </a:xfrm>
          <a:prstGeom prst="roundRect">
            <a:avLst>
              <a:gd name="adj" fmla="val 16667"/>
            </a:avLst>
          </a:prstGeom>
          <a:solidFill>
            <a:srgbClr val="E9EDEB"/>
          </a:solidFill>
          <a:ln w="12700">
            <a:solidFill>
              <a:srgbClr val="E9ED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9424" y="3108960"/>
            <a:ext cx="1176194" cy="164592"/>
          </a:xfrm>
          <a:prstGeom prst="roundRect">
            <a:avLst>
              <a:gd name="adj" fmla="val 16667"/>
            </a:avLst>
          </a:prstGeom>
          <a:solidFill>
            <a:srgbClr val="BD7E5F"/>
          </a:solidFill>
          <a:ln w="12700">
            <a:solidFill>
              <a:srgbClr val="BD7E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304495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840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5989320" y="304495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94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6/840  •  0,71 %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363931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Merge-2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49424" y="3703320"/>
            <a:ext cx="2862072" cy="164592"/>
          </a:xfrm>
          <a:prstGeom prst="roundRect">
            <a:avLst>
              <a:gd name="adj" fmla="val 16667"/>
            </a:avLst>
          </a:prstGeom>
          <a:solidFill>
            <a:srgbClr val="E9EDEB"/>
          </a:solidFill>
          <a:ln w="12700">
            <a:solidFill>
              <a:srgbClr val="E9ED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9424" y="3703320"/>
            <a:ext cx="275845" cy="164592"/>
          </a:xfrm>
          <a:prstGeom prst="roundRect">
            <a:avLst>
              <a:gd name="adj" fmla="val 16667"/>
            </a:avLst>
          </a:prstGeom>
          <a:solidFill>
            <a:srgbClr val="65807A"/>
          </a:solidFill>
          <a:ln w="12700">
            <a:solidFill>
              <a:srgbClr val="6580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63931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197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5989320" y="363931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7/197  •  3,55 %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6384" y="42336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Match-3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249424" y="4297680"/>
            <a:ext cx="2862072" cy="164592"/>
          </a:xfrm>
          <a:prstGeom prst="roundRect">
            <a:avLst>
              <a:gd name="adj" fmla="val 16667"/>
            </a:avLst>
          </a:prstGeom>
          <a:solidFill>
            <a:srgbClr val="E9EDEB"/>
          </a:solidFill>
          <a:ln w="12700">
            <a:solidFill>
              <a:srgbClr val="E9ED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9424" y="4297680"/>
            <a:ext cx="168028" cy="164592"/>
          </a:xfrm>
          <a:prstGeom prst="roundRect">
            <a:avLst>
              <a:gd name="adj" fmla="val 16667"/>
            </a:avLst>
          </a:prstGeom>
          <a:solidFill>
            <a:srgbClr val="567D9B"/>
          </a:solidFill>
          <a:ln w="12700">
            <a:solidFill>
              <a:srgbClr val="567D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423367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5989320" y="423367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94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1/120  •  0,83 %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6384" y="482803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249424" y="4892040"/>
            <a:ext cx="2862072" cy="164592"/>
          </a:xfrm>
          <a:prstGeom prst="roundRect">
            <a:avLst>
              <a:gd name="adj" fmla="val 16667"/>
            </a:avLst>
          </a:prstGeom>
          <a:solidFill>
            <a:srgbClr val="E9EDEB"/>
          </a:solidFill>
          <a:ln w="12700">
            <a:solidFill>
              <a:srgbClr val="E9ED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9424" y="4892040"/>
            <a:ext cx="77013" cy="164592"/>
          </a:xfrm>
          <a:prstGeom prst="roundRect">
            <a:avLst>
              <a:gd name="adj" fmla="val 35620"/>
            </a:avLst>
          </a:prstGeom>
          <a:solidFill>
            <a:srgbClr val="1C7867"/>
          </a:solidFill>
          <a:ln w="12700">
            <a:solidFill>
              <a:srgbClr val="1C78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82803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1440" dirty="0"/>
          </a:p>
        </p:txBody>
      </p:sp>
      <p:sp>
        <p:nvSpPr>
          <p:cNvPr id="35" name="Text 33"/>
          <p:cNvSpPr/>
          <p:nvPr/>
        </p:nvSpPr>
        <p:spPr>
          <a:xfrm>
            <a:off x="5989320" y="482803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8/55  •  14,55 %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55864" y="1792224"/>
            <a:ext cx="3621024" cy="4087368"/>
          </a:xfrm>
          <a:prstGeom prst="roundRect">
            <a:avLst>
              <a:gd name="adj" fmla="val 4040"/>
            </a:avLst>
          </a:prstGeom>
          <a:solidFill>
            <a:srgbClr val="1D2224"/>
          </a:solidFill>
          <a:ln w="12700">
            <a:solidFill>
              <a:srgbClr val="1D22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9328" y="204825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4C1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BON SIGNAL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8330184" y="2551176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 importante ≠ marché accessible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8348472" y="3685032"/>
            <a:ext cx="2980944" cy="0"/>
          </a:xfrm>
          <a:prstGeom prst="line">
            <a:avLst/>
          </a:prstGeom>
          <a:noFill/>
          <a:ln w="12700">
            <a:solidFill>
              <a:srgbClr val="5260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39328" y="3913632"/>
            <a:ext cx="304495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9E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lancements Block ont presque doublé (+89 % sur un an). À l’inverse, les Sort ont grandi en téléchargements (+56 %) avec moins de nouvelles sorties (−23 %).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3504" y="598932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: le seuil de 100 K$ concerne les achats intégrés ; il exclut les revenus publicitaires et ne mesure pas la probabilité de succès économique.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" y="6345936"/>
            <a:ext cx="10927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788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 AppMagic Casual Games H1 2026 via GameDev Reports ; synthèse Tom Storr / AppMagic</a:t>
            </a:r>
            <a:endParaRPr lang="en-US" sz="7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ENTONNOIR ASO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5 marchés immenses vers 5 recherches plus précises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12064" y="111556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requêtes ci-dessous sont des hypothèses cohérentes avec les classements et les produits observés, pas un top des volumes de recherche.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ÉTUDE DE MARCHÉ  •  OCTOBRE 2026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100816" y="6583680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07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13232" y="1719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CATÉGORIE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7190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REQUÊTE LARGE : LEADERS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719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MÉCANIQUE CIBLÉE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41664" y="1719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REQUÊTE NICHE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112264"/>
            <a:ext cx="1108252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221992"/>
            <a:ext cx="1399032" cy="356616"/>
          </a:xfrm>
          <a:prstGeom prst="roundRect">
            <a:avLst>
              <a:gd name="adj" fmla="val 20513"/>
            </a:avLst>
          </a:prstGeom>
          <a:solidFill>
            <a:srgbClr val="F2E2D8"/>
          </a:solidFill>
          <a:ln w="12700">
            <a:solidFill>
              <a:srgbClr val="F2E2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2677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41448" y="227685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 game · block puzzle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285232" y="22677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14416" y="2276856"/>
            <a:ext cx="2788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grille logique · nonogram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8366760" y="22677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68512" y="22585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grid / nonogram expert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566928" y="2779776"/>
            <a:ext cx="11082528" cy="585216"/>
          </a:xfrm>
          <a:prstGeom prst="roundRect">
            <a:avLst>
              <a:gd name="adj" fmla="val 12500"/>
            </a:avLst>
          </a:prstGeom>
          <a:solidFill>
            <a:srgbClr val="F1F3F0"/>
          </a:solidFill>
          <a:ln w="12700">
            <a:solidFill>
              <a:srgbClr val="F1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2889504"/>
            <a:ext cx="1399032" cy="356616"/>
          </a:xfrm>
          <a:prstGeom prst="roundRect">
            <a:avLst>
              <a:gd name="adj" fmla="val 20513"/>
            </a:avLst>
          </a:prstGeom>
          <a:solidFill>
            <a:srgbClr val="F2E2D8"/>
          </a:solidFill>
          <a:ln w="12700">
            <a:solidFill>
              <a:srgbClr val="F2E2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29352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41448" y="294436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arcade · endless runner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5285232" y="293522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14416" y="2944368"/>
            <a:ext cx="2788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tactile / précision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8366760" y="293522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68512" y="2926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tap precision offline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566928" y="3447288"/>
            <a:ext cx="1108252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3557016"/>
            <a:ext cx="1399032" cy="356616"/>
          </a:xfrm>
          <a:prstGeom prst="roundRect">
            <a:avLst>
              <a:gd name="adj" fmla="val 20513"/>
            </a:avLst>
          </a:prstGeom>
          <a:solidFill>
            <a:srgbClr val="F2E2D8"/>
          </a:solidFill>
          <a:ln w="12700">
            <a:solidFill>
              <a:srgbClr val="F2E2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602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41448" y="361188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 · driving game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5285232" y="36027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14416" y="3611880"/>
            <a:ext cx="2788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manœuvre / parking</a:t>
            </a:r>
            <a:endParaRPr lang="en-US" sz="1140" dirty="0"/>
          </a:p>
        </p:txBody>
      </p:sp>
      <p:sp>
        <p:nvSpPr>
          <p:cNvPr id="34" name="Text 32"/>
          <p:cNvSpPr/>
          <p:nvPr/>
        </p:nvSpPr>
        <p:spPr>
          <a:xfrm>
            <a:off x="8366760" y="36027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68512" y="3593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precision offline</a:t>
            </a:r>
            <a:endParaRPr lang="en-US" sz="1110" dirty="0"/>
          </a:p>
        </p:txBody>
      </p:sp>
      <p:sp>
        <p:nvSpPr>
          <p:cNvPr id="36" name="Shape 34"/>
          <p:cNvSpPr/>
          <p:nvPr/>
        </p:nvSpPr>
        <p:spPr>
          <a:xfrm>
            <a:off x="566928" y="4114800"/>
            <a:ext cx="11082528" cy="585216"/>
          </a:xfrm>
          <a:prstGeom prst="roundRect">
            <a:avLst>
              <a:gd name="adj" fmla="val 12500"/>
            </a:avLst>
          </a:prstGeom>
          <a:solidFill>
            <a:srgbClr val="F1F3F0"/>
          </a:solidFill>
          <a:ln w="12700">
            <a:solidFill>
              <a:srgbClr val="F1F3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4224528"/>
            <a:ext cx="1399032" cy="356616"/>
          </a:xfrm>
          <a:prstGeom prst="roundRect">
            <a:avLst>
              <a:gd name="adj" fmla="val 20513"/>
            </a:avLst>
          </a:prstGeom>
          <a:solidFill>
            <a:srgbClr val="F2E2D8"/>
          </a:solidFill>
          <a:ln w="12700">
            <a:solidFill>
              <a:srgbClr val="F2E2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270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41448" y="427939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puzzle · word search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5285232" y="42702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14416" y="4279392"/>
            <a:ext cx="2788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 mêlés difficiles</a:t>
            </a:r>
            <a:endParaRPr lang="en-US" sz="1140" dirty="0"/>
          </a:p>
        </p:txBody>
      </p:sp>
      <p:sp>
        <p:nvSpPr>
          <p:cNvPr id="42" name="Text 40"/>
          <p:cNvSpPr/>
          <p:nvPr/>
        </p:nvSpPr>
        <p:spPr>
          <a:xfrm>
            <a:off x="8366760" y="42702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68512" y="42611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 mêlés adultes sans pub</a:t>
            </a:r>
            <a:endParaRPr lang="en-US" sz="1110" dirty="0"/>
          </a:p>
        </p:txBody>
      </p:sp>
      <p:sp>
        <p:nvSpPr>
          <p:cNvPr id="44" name="Shape 42"/>
          <p:cNvSpPr/>
          <p:nvPr/>
        </p:nvSpPr>
        <p:spPr>
          <a:xfrm>
            <a:off x="566928" y="4782312"/>
            <a:ext cx="11082528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" y="4892040"/>
            <a:ext cx="1399032" cy="356616"/>
          </a:xfrm>
          <a:prstGeom prst="roundRect">
            <a:avLst>
              <a:gd name="adj" fmla="val 20513"/>
            </a:avLst>
          </a:prstGeom>
          <a:solidFill>
            <a:srgbClr val="F2E2D8"/>
          </a:solidFill>
          <a:ln w="12700">
            <a:solidFill>
              <a:srgbClr val="F2E2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" y="4937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PLATEAU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441448" y="494690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game · party game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5285232" y="4937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614416" y="4946904"/>
            <a:ext cx="2788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déduction en groupe</a:t>
            </a:r>
            <a:endParaRPr lang="en-US" sz="1140" dirty="0"/>
          </a:p>
        </p:txBody>
      </p:sp>
      <p:sp>
        <p:nvSpPr>
          <p:cNvPr id="50" name="Text 48"/>
          <p:cNvSpPr/>
          <p:nvPr/>
        </p:nvSpPr>
        <p:spPr>
          <a:xfrm>
            <a:off x="8366760" y="4937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668512" y="492861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jeu soirée famille hors ligne</a:t>
            </a:r>
            <a:endParaRPr lang="en-US" sz="1110" dirty="0"/>
          </a:p>
        </p:txBody>
      </p:sp>
      <p:sp>
        <p:nvSpPr>
          <p:cNvPr id="52" name="Shape 50"/>
          <p:cNvSpPr/>
          <p:nvPr/>
        </p:nvSpPr>
        <p:spPr>
          <a:xfrm>
            <a:off x="594360" y="5632704"/>
            <a:ext cx="11045952" cy="448056"/>
          </a:xfrm>
          <a:prstGeom prst="roundRect">
            <a:avLst>
              <a:gd name="adj" fmla="val 16327"/>
            </a:avLst>
          </a:prstGeom>
          <a:solidFill>
            <a:srgbClr val="1D2224"/>
          </a:solidFill>
          <a:ln w="12700">
            <a:solidFill>
              <a:srgbClr val="1D22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5733288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FILTRAGE RÉEL  →  recherche dans le store  →  résultats visibles  →  notes + avis  →  faille produit  →  concept distinctif</a:t>
            </a:r>
            <a:endParaRPr lang="en-US" sz="1280" dirty="0"/>
          </a:p>
        </p:txBody>
      </p:sp>
      <p:sp>
        <p:nvSpPr>
          <p:cNvPr id="54" name="Text 52"/>
          <p:cNvSpPr/>
          <p:nvPr/>
        </p:nvSpPr>
        <p:spPr>
          <a:xfrm>
            <a:off x="521208" y="6345936"/>
            <a:ext cx="10927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788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 Apple Developer (recherche par mots-clés) ; Google Play Discovery ; AppBrain France (tops par catégorie)</a:t>
            </a:r>
            <a:endParaRPr lang="en-US" sz="7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COMPARATIF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pistes : signaux de demande, leaders et plaintes vérifiées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12064" y="111556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Classements Google Play France par catégorie (octobre 2026) + lecture ciblée des avis App Store français.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ÉTUDE DE MARCHÉ  •  OCTOBRE 2026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100816" y="6583680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07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48640" y="1773936"/>
            <a:ext cx="2139696" cy="42428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73936"/>
            <a:ext cx="2139696" cy="109728"/>
          </a:xfrm>
          <a:prstGeom prst="roundRect">
            <a:avLst>
              <a:gd name="adj" fmla="val 16667"/>
            </a:avLst>
          </a:prstGeom>
          <a:solidFill>
            <a:srgbClr val="1C7867"/>
          </a:solidFill>
          <a:ln w="12700">
            <a:solidFill>
              <a:srgbClr val="1C78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02536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3134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85800" y="2715768"/>
            <a:ext cx="1865376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3464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CATÉGORIE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685800" y="3035808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Meowdoku #1 · Rotate Rings #4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685800" y="3685032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REQUÊTE CANDIDATE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685800" y="386791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grid / nonogram expert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685800" y="450799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FAILLE DOCUMENTÉE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85800" y="472744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Pubs entre niveaux ; guidage et indices parfois peu lisibles.</a:t>
            </a:r>
            <a:endParaRPr lang="en-US" sz="1055" dirty="0"/>
          </a:p>
        </p:txBody>
      </p:sp>
      <p:sp>
        <p:nvSpPr>
          <p:cNvPr id="19" name="Text 17"/>
          <p:cNvSpPr/>
          <p:nvPr/>
        </p:nvSpPr>
        <p:spPr>
          <a:xfrm>
            <a:off x="685800" y="5641848"/>
            <a:ext cx="1865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OUVERTURE POSSIBLE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2825496" y="1773936"/>
            <a:ext cx="2139696" cy="42428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25496" y="1773936"/>
            <a:ext cx="2139696" cy="109728"/>
          </a:xfrm>
          <a:prstGeom prst="roundRect">
            <a:avLst>
              <a:gd name="adj" fmla="val 16667"/>
            </a:avLst>
          </a:prstGeom>
          <a:solidFill>
            <a:srgbClr val="A94937"/>
          </a:solidFill>
          <a:ln w="12700">
            <a:solidFill>
              <a:srgbClr val="A94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62656" y="2002536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4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62656" y="23134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ARCADE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2962656" y="2715768"/>
            <a:ext cx="1865376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62656" y="283464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CATÉGORIE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2962656" y="3035808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Subway Surfers #1 · Geometry Dash #4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2962656" y="3685032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REQUÊTE CANDIDATE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2962656" y="386791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tap precision offline</a:t>
            </a:r>
            <a:endParaRPr lang="en-US" sz="1090" dirty="0"/>
          </a:p>
        </p:txBody>
      </p:sp>
      <p:sp>
        <p:nvSpPr>
          <p:cNvPr id="29" name="Text 27"/>
          <p:cNvSpPr/>
          <p:nvPr/>
        </p:nvSpPr>
        <p:spPr>
          <a:xfrm>
            <a:off x="2962656" y="450799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FAILLE DOCUMENTÉE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2962656" y="472744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 géants, jeu très maîtrisé ; une simple copie se différencie peu.</a:t>
            </a:r>
            <a:endParaRPr lang="en-US" sz="1055" dirty="0"/>
          </a:p>
        </p:txBody>
      </p:sp>
      <p:sp>
        <p:nvSpPr>
          <p:cNvPr id="31" name="Text 29"/>
          <p:cNvSpPr/>
          <p:nvPr/>
        </p:nvSpPr>
        <p:spPr>
          <a:xfrm>
            <a:off x="2962656" y="5641848"/>
            <a:ext cx="1865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A94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DÉFAVORABLE EN ASO PUR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102352" y="1773936"/>
            <a:ext cx="2139696" cy="42428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02352" y="1773936"/>
            <a:ext cx="2139696" cy="109728"/>
          </a:xfrm>
          <a:prstGeom prst="roundRect">
            <a:avLst>
              <a:gd name="adj" fmla="val 16667"/>
            </a:avLst>
          </a:prstGeom>
          <a:solidFill>
            <a:srgbClr val="1C7867"/>
          </a:solidFill>
          <a:ln w="12700">
            <a:solidFill>
              <a:srgbClr val="1C78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9512" y="2002536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9512" y="23134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5239512" y="2715768"/>
            <a:ext cx="1865376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9512" y="283464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CATÉGORIE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5239512" y="3035808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Masters #3 (170 M installs*)</a:t>
            </a:r>
            <a:endParaRPr lang="en-US" sz="1140" dirty="0"/>
          </a:p>
        </p:txBody>
      </p:sp>
      <p:sp>
        <p:nvSpPr>
          <p:cNvPr id="39" name="Text 37"/>
          <p:cNvSpPr/>
          <p:nvPr/>
        </p:nvSpPr>
        <p:spPr>
          <a:xfrm>
            <a:off x="5239512" y="3685032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REQUÊTE CANDIDATE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5239512" y="386791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precision offline</a:t>
            </a:r>
            <a:endParaRPr lang="en-US" sz="1090" dirty="0"/>
          </a:p>
        </p:txBody>
      </p:sp>
      <p:sp>
        <p:nvSpPr>
          <p:cNvPr id="41" name="Text 39"/>
          <p:cNvSpPr/>
          <p:nvPr/>
        </p:nvSpPr>
        <p:spPr>
          <a:xfrm>
            <a:off x="5239512" y="450799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FAILLE DOCUMENTÉE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5239512" y="472744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 : sessions trop courtes, pubs longues, difficulté limitée.</a:t>
            </a:r>
            <a:endParaRPr lang="en-US" sz="1055" dirty="0"/>
          </a:p>
        </p:txBody>
      </p:sp>
      <p:sp>
        <p:nvSpPr>
          <p:cNvPr id="43" name="Text 41"/>
          <p:cNvSpPr/>
          <p:nvPr/>
        </p:nvSpPr>
        <p:spPr>
          <a:xfrm>
            <a:off x="5239512" y="5641848"/>
            <a:ext cx="1865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OUVERTURE POSSIBLE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7379208" y="1773936"/>
            <a:ext cx="2139696" cy="42428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79208" y="1773936"/>
            <a:ext cx="2139696" cy="109728"/>
          </a:xfrm>
          <a:prstGeom prst="roundRect">
            <a:avLst>
              <a:gd name="adj" fmla="val 16667"/>
            </a:avLst>
          </a:prstGeom>
          <a:solidFill>
            <a:srgbClr val="1C7867"/>
          </a:solidFill>
          <a:ln w="12700">
            <a:solidFill>
              <a:srgbClr val="1C786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16368" y="2002536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16368" y="23134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JEUX DE MOTS</a:t>
            </a:r>
            <a:endParaRPr lang="en-US" sz="1320" dirty="0"/>
          </a:p>
        </p:txBody>
      </p:sp>
      <p:sp>
        <p:nvSpPr>
          <p:cNvPr id="48" name="Shape 46"/>
          <p:cNvSpPr/>
          <p:nvPr/>
        </p:nvSpPr>
        <p:spPr>
          <a:xfrm>
            <a:off x="7516368" y="2715768"/>
            <a:ext cx="1865376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16368" y="283464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CATÉGORIE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7516368" y="3035808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Search Explorer #2 · WoW #8</a:t>
            </a:r>
            <a:endParaRPr lang="en-US" sz="1140" dirty="0"/>
          </a:p>
        </p:txBody>
      </p:sp>
      <p:sp>
        <p:nvSpPr>
          <p:cNvPr id="51" name="Text 49"/>
          <p:cNvSpPr/>
          <p:nvPr/>
        </p:nvSpPr>
        <p:spPr>
          <a:xfrm>
            <a:off x="7516368" y="3685032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REQUÊTE CANDIDATE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7516368" y="386791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 mêlés adultes difficiles</a:t>
            </a:r>
            <a:endParaRPr lang="en-US" sz="1090" dirty="0"/>
          </a:p>
        </p:txBody>
      </p:sp>
      <p:sp>
        <p:nvSpPr>
          <p:cNvPr id="53" name="Text 51"/>
          <p:cNvSpPr/>
          <p:nvPr/>
        </p:nvSpPr>
        <p:spPr>
          <a:xfrm>
            <a:off x="7516368" y="450799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FAILLE DOCUMENTÉE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7516368" y="472744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 : pubs fréquentes, mots répétés, difficulté qui stagne.</a:t>
            </a:r>
            <a:endParaRPr lang="en-US" sz="1055" dirty="0"/>
          </a:p>
        </p:txBody>
      </p:sp>
      <p:sp>
        <p:nvSpPr>
          <p:cNvPr id="55" name="Text 53"/>
          <p:cNvSpPr/>
          <p:nvPr/>
        </p:nvSpPr>
        <p:spPr>
          <a:xfrm>
            <a:off x="7516368" y="5641848"/>
            <a:ext cx="1865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OUVERTURE POSSIBLE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9656064" y="1773936"/>
            <a:ext cx="2139696" cy="424281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56064" y="1773936"/>
            <a:ext cx="2139696" cy="109728"/>
          </a:xfrm>
          <a:prstGeom prst="roundRect">
            <a:avLst>
              <a:gd name="adj" fmla="val 16667"/>
            </a:avLst>
          </a:prstGeom>
          <a:solidFill>
            <a:srgbClr val="335D86"/>
          </a:solidFill>
          <a:ln w="12700">
            <a:solidFill>
              <a:srgbClr val="335D8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93224" y="2002536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5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793224" y="23134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PLATEAU / SOCIAL</a:t>
            </a:r>
            <a:endParaRPr lang="en-US" sz="1320" dirty="0"/>
          </a:p>
        </p:txBody>
      </p:sp>
      <p:sp>
        <p:nvSpPr>
          <p:cNvPr id="60" name="Shape 58"/>
          <p:cNvSpPr/>
          <p:nvPr/>
        </p:nvSpPr>
        <p:spPr>
          <a:xfrm>
            <a:off x="9793224" y="2715768"/>
            <a:ext cx="1865376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793224" y="283464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CATÉGORIE</a:t>
            </a:r>
            <a:endParaRPr lang="en-US" sz="860" dirty="0"/>
          </a:p>
        </p:txBody>
      </p:sp>
      <p:sp>
        <p:nvSpPr>
          <p:cNvPr id="62" name="Text 60"/>
          <p:cNvSpPr/>
          <p:nvPr/>
        </p:nvSpPr>
        <p:spPr>
          <a:xfrm>
            <a:off x="9793224" y="3035808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Undercover #8 (Board)</a:t>
            </a:r>
            <a:endParaRPr lang="en-US" sz="1140" dirty="0"/>
          </a:p>
        </p:txBody>
      </p:sp>
      <p:sp>
        <p:nvSpPr>
          <p:cNvPr id="63" name="Text 61"/>
          <p:cNvSpPr/>
          <p:nvPr/>
        </p:nvSpPr>
        <p:spPr>
          <a:xfrm>
            <a:off x="9793224" y="3685032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REQUÊTE CANDIDATE</a:t>
            </a:r>
            <a:endParaRPr lang="en-US" sz="860" dirty="0"/>
          </a:p>
        </p:txBody>
      </p:sp>
      <p:sp>
        <p:nvSpPr>
          <p:cNvPr id="64" name="Text 62"/>
          <p:cNvSpPr/>
          <p:nvPr/>
        </p:nvSpPr>
        <p:spPr>
          <a:xfrm>
            <a:off x="9793224" y="386791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jeu de soirée famille hors ligne</a:t>
            </a:r>
            <a:endParaRPr lang="en-US" sz="1090" dirty="0"/>
          </a:p>
        </p:txBody>
      </p:sp>
      <p:sp>
        <p:nvSpPr>
          <p:cNvPr id="65" name="Text 63"/>
          <p:cNvSpPr/>
          <p:nvPr/>
        </p:nvSpPr>
        <p:spPr>
          <a:xfrm>
            <a:off x="9793224" y="450799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FAILLE DOCUMENTÉE</a:t>
            </a:r>
            <a:endParaRPr lang="en-US" sz="860" dirty="0"/>
          </a:p>
        </p:txBody>
      </p:sp>
      <p:sp>
        <p:nvSpPr>
          <p:cNvPr id="66" name="Text 64"/>
          <p:cNvSpPr/>
          <p:nvPr/>
        </p:nvSpPr>
        <p:spPr>
          <a:xfrm>
            <a:off x="9793224" y="472744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 : packs de mots payants ; jeu hors ligne déjà proposé.</a:t>
            </a:r>
            <a:endParaRPr lang="en-US" sz="1055" dirty="0"/>
          </a:p>
        </p:txBody>
      </p:sp>
      <p:sp>
        <p:nvSpPr>
          <p:cNvPr id="67" name="Text 65"/>
          <p:cNvSpPr/>
          <p:nvPr/>
        </p:nvSpPr>
        <p:spPr>
          <a:xfrm>
            <a:off x="9793224" y="5641848"/>
            <a:ext cx="1865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335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NICHE DÉJÀ TRAVAILLÉE</a:t>
            </a:r>
            <a:endParaRPr lang="en-US" sz="930" dirty="0"/>
          </a:p>
        </p:txBody>
      </p:sp>
      <p:sp>
        <p:nvSpPr>
          <p:cNvPr id="68" name="Text 66"/>
          <p:cNvSpPr/>
          <p:nvPr/>
        </p:nvSpPr>
        <p:spPr>
          <a:xfrm>
            <a:off x="594360" y="613562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5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*Estimations d’installations Android toutes zones AppBrain. Les rangs sont catégoriels, pas des positions sur chaque mot-clé.</a:t>
            </a:r>
            <a:endParaRPr lang="en-US" sz="935" dirty="0"/>
          </a:p>
        </p:txBody>
      </p:sp>
      <p:sp>
        <p:nvSpPr>
          <p:cNvPr id="69" name="Text 67"/>
          <p:cNvSpPr/>
          <p:nvPr/>
        </p:nvSpPr>
        <p:spPr>
          <a:xfrm>
            <a:off x="521208" y="6345936"/>
            <a:ext cx="10927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788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 AppBrain FR ; avis Meowdoku, Nonogram.com, Vehicle Masters, Mots Mêlés, Undercover (Apple FR)</a:t>
            </a:r>
            <a:endParaRPr lang="en-US" sz="7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DE DÉCISION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retenir 3 genres différents — pas 3 copies de puzzles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12064" y="111556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sélection privilégie des requêtes explicites, des frustrations observées et une mécanique réalisable par une petite équipe.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ÉTUDE DE MARCHÉ  •  OCTOBRE 2026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100816" y="6583680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07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12064" y="1810512"/>
            <a:ext cx="11155680" cy="3621024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025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2002536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20025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RIVALITÉ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42432" y="2002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INSATISFACTION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09560" y="2002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ANGLE PRODUIT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0" y="2002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" y="2368296"/>
            <a:ext cx="10707624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3957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5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 / LOGIQUE</a:t>
            </a:r>
            <a:endParaRPr lang="en-US" sz="1135" dirty="0"/>
          </a:p>
        </p:txBody>
      </p:sp>
      <p:sp>
        <p:nvSpPr>
          <p:cNvPr id="17" name="Text 15"/>
          <p:cNvSpPr/>
          <p:nvPr/>
        </p:nvSpPr>
        <p:spPr>
          <a:xfrm>
            <a:off x="3136392" y="239572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Très forte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4379976" y="23957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Très forte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5751576" y="239572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Pubs / ergonomie</a:t>
            </a:r>
            <a:endParaRPr lang="en-US" sz="1065" dirty="0"/>
          </a:p>
        </p:txBody>
      </p:sp>
      <p:sp>
        <p:nvSpPr>
          <p:cNvPr id="20" name="Text 18"/>
          <p:cNvSpPr/>
          <p:nvPr/>
        </p:nvSpPr>
        <p:spPr>
          <a:xfrm>
            <a:off x="7909560" y="2395728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Grille logique nouvelle, sans interruption</a:t>
            </a:r>
            <a:endParaRPr lang="en-US" sz="1055" dirty="0"/>
          </a:p>
        </p:txBody>
      </p:sp>
      <p:sp>
        <p:nvSpPr>
          <p:cNvPr id="21" name="Text 19"/>
          <p:cNvSpPr/>
          <p:nvPr/>
        </p:nvSpPr>
        <p:spPr>
          <a:xfrm>
            <a:off x="10607040" y="239572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5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RETENIR</a:t>
            </a:r>
            <a:endParaRPr lang="en-US" sz="1035" dirty="0"/>
          </a:p>
        </p:txBody>
      </p:sp>
      <p:sp>
        <p:nvSpPr>
          <p:cNvPr id="22" name="Shape 20"/>
          <p:cNvSpPr/>
          <p:nvPr/>
        </p:nvSpPr>
        <p:spPr>
          <a:xfrm>
            <a:off x="722376" y="2926080"/>
            <a:ext cx="10707624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29535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5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 / PRÉCISION</a:t>
            </a:r>
            <a:endParaRPr lang="en-US" sz="1135" dirty="0"/>
          </a:p>
        </p:txBody>
      </p:sp>
      <p:sp>
        <p:nvSpPr>
          <p:cNvPr id="24" name="Text 22"/>
          <p:cNvSpPr/>
          <p:nvPr/>
        </p:nvSpPr>
        <p:spPr>
          <a:xfrm>
            <a:off x="3136392" y="295351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Très forte</a:t>
            </a:r>
            <a:endParaRPr lang="en-US" sz="1090" dirty="0"/>
          </a:p>
        </p:txBody>
      </p:sp>
      <p:sp>
        <p:nvSpPr>
          <p:cNvPr id="25" name="Text 23"/>
          <p:cNvSpPr/>
          <p:nvPr/>
        </p:nvSpPr>
        <p:spPr>
          <a:xfrm>
            <a:off x="4379976" y="2953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Modérée à forte</a:t>
            </a:r>
            <a:endParaRPr lang="en-US" sz="1090" dirty="0"/>
          </a:p>
        </p:txBody>
      </p:sp>
      <p:sp>
        <p:nvSpPr>
          <p:cNvPr id="26" name="Text 24"/>
          <p:cNvSpPr/>
          <p:nvPr/>
        </p:nvSpPr>
        <p:spPr>
          <a:xfrm>
            <a:off x="5751576" y="2953512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Niveaux trop courts / pubs</a:t>
            </a:r>
            <a:endParaRPr lang="en-US" sz="1065" dirty="0"/>
          </a:p>
        </p:txBody>
      </p:sp>
      <p:sp>
        <p:nvSpPr>
          <p:cNvPr id="27" name="Text 25"/>
          <p:cNvSpPr/>
          <p:nvPr/>
        </p:nvSpPr>
        <p:spPr>
          <a:xfrm>
            <a:off x="7909560" y="295351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Manœuvres précises, niveaux plus construits</a:t>
            </a:r>
            <a:endParaRPr lang="en-US" sz="1055" dirty="0"/>
          </a:p>
        </p:txBody>
      </p:sp>
      <p:sp>
        <p:nvSpPr>
          <p:cNvPr id="28" name="Text 26"/>
          <p:cNvSpPr/>
          <p:nvPr/>
        </p:nvSpPr>
        <p:spPr>
          <a:xfrm>
            <a:off x="10607040" y="295351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5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RETENIR</a:t>
            </a:r>
            <a:endParaRPr lang="en-US" sz="1035" dirty="0"/>
          </a:p>
        </p:txBody>
      </p:sp>
      <p:sp>
        <p:nvSpPr>
          <p:cNvPr id="29" name="Shape 27"/>
          <p:cNvSpPr/>
          <p:nvPr/>
        </p:nvSpPr>
        <p:spPr>
          <a:xfrm>
            <a:off x="722376" y="3483864"/>
            <a:ext cx="10707624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5112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5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/ MOTS MÊLÉS</a:t>
            </a:r>
            <a:endParaRPr lang="en-US" sz="1135" dirty="0"/>
          </a:p>
        </p:txBody>
      </p:sp>
      <p:sp>
        <p:nvSpPr>
          <p:cNvPr id="31" name="Text 29"/>
          <p:cNvSpPr/>
          <p:nvPr/>
        </p:nvSpPr>
        <p:spPr>
          <a:xfrm>
            <a:off x="3136392" y="3511296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Forte</a:t>
            </a:r>
            <a:endParaRPr lang="en-US" sz="1090" dirty="0"/>
          </a:p>
        </p:txBody>
      </p:sp>
      <p:sp>
        <p:nvSpPr>
          <p:cNvPr id="32" name="Text 30"/>
          <p:cNvSpPr/>
          <p:nvPr/>
        </p:nvSpPr>
        <p:spPr>
          <a:xfrm>
            <a:off x="4379976" y="35112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Forte</a:t>
            </a:r>
            <a:endParaRPr lang="en-US" sz="1090" dirty="0"/>
          </a:p>
        </p:txBody>
      </p:sp>
      <p:sp>
        <p:nvSpPr>
          <p:cNvPr id="33" name="Text 31"/>
          <p:cNvSpPr/>
          <p:nvPr/>
        </p:nvSpPr>
        <p:spPr>
          <a:xfrm>
            <a:off x="5751576" y="3511296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Répétition / niveau trop facile</a:t>
            </a:r>
            <a:endParaRPr lang="en-US" sz="1065" dirty="0"/>
          </a:p>
        </p:txBody>
      </p:sp>
      <p:sp>
        <p:nvSpPr>
          <p:cNvPr id="34" name="Text 32"/>
          <p:cNvSpPr/>
          <p:nvPr/>
        </p:nvSpPr>
        <p:spPr>
          <a:xfrm>
            <a:off x="7909560" y="3511296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 mêlés difficiles, langage soigné</a:t>
            </a:r>
            <a:endParaRPr lang="en-US" sz="1055" dirty="0"/>
          </a:p>
        </p:txBody>
      </p:sp>
      <p:sp>
        <p:nvSpPr>
          <p:cNvPr id="35" name="Text 33"/>
          <p:cNvSpPr/>
          <p:nvPr/>
        </p:nvSpPr>
        <p:spPr>
          <a:xfrm>
            <a:off x="10607040" y="35112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5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RETENIR</a:t>
            </a:r>
            <a:endParaRPr lang="en-US" sz="1035" dirty="0"/>
          </a:p>
        </p:txBody>
      </p:sp>
      <p:sp>
        <p:nvSpPr>
          <p:cNvPr id="36" name="Shape 34"/>
          <p:cNvSpPr/>
          <p:nvPr/>
        </p:nvSpPr>
        <p:spPr>
          <a:xfrm>
            <a:off x="722376" y="4041648"/>
            <a:ext cx="10707624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4069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5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ARCADE / ONE TAP</a:t>
            </a:r>
            <a:endParaRPr lang="en-US" sz="1135" dirty="0"/>
          </a:p>
        </p:txBody>
      </p:sp>
      <p:sp>
        <p:nvSpPr>
          <p:cNvPr id="38" name="Text 36"/>
          <p:cNvSpPr/>
          <p:nvPr/>
        </p:nvSpPr>
        <p:spPr>
          <a:xfrm>
            <a:off x="3136392" y="406908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Très forte</a:t>
            </a:r>
            <a:endParaRPr lang="en-US" sz="1090" dirty="0"/>
          </a:p>
        </p:txBody>
      </p:sp>
      <p:sp>
        <p:nvSpPr>
          <p:cNvPr id="39" name="Text 37"/>
          <p:cNvSpPr/>
          <p:nvPr/>
        </p:nvSpPr>
        <p:spPr>
          <a:xfrm>
            <a:off x="4379976" y="4069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Extrême</a:t>
            </a:r>
            <a:endParaRPr lang="en-US" sz="1090" dirty="0"/>
          </a:p>
        </p:txBody>
      </p:sp>
      <p:sp>
        <p:nvSpPr>
          <p:cNvPr id="40" name="Text 38"/>
          <p:cNvSpPr/>
          <p:nvPr/>
        </p:nvSpPr>
        <p:spPr>
          <a:xfrm>
            <a:off x="5751576" y="406908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Avantage des franchises</a:t>
            </a:r>
            <a:endParaRPr lang="en-US" sz="1065" dirty="0"/>
          </a:p>
        </p:txBody>
      </p:sp>
      <p:sp>
        <p:nvSpPr>
          <p:cNvPr id="41" name="Text 39"/>
          <p:cNvSpPr/>
          <p:nvPr/>
        </p:nvSpPr>
        <p:spPr>
          <a:xfrm>
            <a:off x="7909560" y="4069080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Faible avantage via mots-clés seuls</a:t>
            </a:r>
            <a:endParaRPr lang="en-US" sz="1055" dirty="0"/>
          </a:p>
        </p:txBody>
      </p:sp>
      <p:sp>
        <p:nvSpPr>
          <p:cNvPr id="42" name="Text 40"/>
          <p:cNvSpPr/>
          <p:nvPr/>
        </p:nvSpPr>
        <p:spPr>
          <a:xfrm>
            <a:off x="10607040" y="406908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5" b="1" dirty="0">
                <a:solidFill>
                  <a:srgbClr val="A94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ÉCARTER</a:t>
            </a:r>
            <a:endParaRPr lang="en-US" sz="1035" dirty="0"/>
          </a:p>
        </p:txBody>
      </p:sp>
      <p:sp>
        <p:nvSpPr>
          <p:cNvPr id="43" name="Shape 41"/>
          <p:cNvSpPr/>
          <p:nvPr/>
        </p:nvSpPr>
        <p:spPr>
          <a:xfrm>
            <a:off x="722376" y="4599432"/>
            <a:ext cx="10707624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" y="46268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5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/ SOIRÉE</a:t>
            </a:r>
            <a:endParaRPr lang="en-US" sz="1135" dirty="0"/>
          </a:p>
        </p:txBody>
      </p:sp>
      <p:sp>
        <p:nvSpPr>
          <p:cNvPr id="45" name="Text 43"/>
          <p:cNvSpPr/>
          <p:nvPr/>
        </p:nvSpPr>
        <p:spPr>
          <a:xfrm>
            <a:off x="3136392" y="462686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</a:t>
            </a:r>
            <a:endParaRPr lang="en-US" sz="1090" dirty="0"/>
          </a:p>
        </p:txBody>
      </p:sp>
      <p:sp>
        <p:nvSpPr>
          <p:cNvPr id="46" name="Text 44"/>
          <p:cNvSpPr/>
          <p:nvPr/>
        </p:nvSpPr>
        <p:spPr>
          <a:xfrm>
            <a:off x="4379976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Forte</a:t>
            </a:r>
            <a:endParaRPr lang="en-US" sz="1090" dirty="0"/>
          </a:p>
        </p:txBody>
      </p:sp>
      <p:sp>
        <p:nvSpPr>
          <p:cNvPr id="47" name="Text 45"/>
          <p:cNvSpPr/>
          <p:nvPr/>
        </p:nvSpPr>
        <p:spPr>
          <a:xfrm>
            <a:off x="5751576" y="462686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Contenus payants</a:t>
            </a:r>
            <a:endParaRPr lang="en-US" sz="1065" dirty="0"/>
          </a:p>
        </p:txBody>
      </p:sp>
      <p:sp>
        <p:nvSpPr>
          <p:cNvPr id="48" name="Text 46"/>
          <p:cNvSpPr/>
          <p:nvPr/>
        </p:nvSpPr>
        <p:spPr>
          <a:xfrm>
            <a:off x="7909560" y="4626864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5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Vraie proposition nouvelle indispensable</a:t>
            </a:r>
            <a:endParaRPr lang="en-US" sz="1055" dirty="0"/>
          </a:p>
        </p:txBody>
      </p:sp>
      <p:sp>
        <p:nvSpPr>
          <p:cNvPr id="49" name="Text 47"/>
          <p:cNvSpPr/>
          <p:nvPr/>
        </p:nvSpPr>
        <p:spPr>
          <a:xfrm>
            <a:off x="10607040" y="4626864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5" b="1" dirty="0">
                <a:solidFill>
                  <a:srgbClr val="335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RÉSERVE</a:t>
            </a:r>
            <a:endParaRPr lang="en-US" sz="1035" dirty="0"/>
          </a:p>
        </p:txBody>
      </p:sp>
      <p:sp>
        <p:nvSpPr>
          <p:cNvPr id="50" name="Shape 48"/>
          <p:cNvSpPr/>
          <p:nvPr/>
        </p:nvSpPr>
        <p:spPr>
          <a:xfrm>
            <a:off x="539496" y="5678424"/>
            <a:ext cx="11109960" cy="484632"/>
          </a:xfrm>
          <a:prstGeom prst="roundRect">
            <a:avLst>
              <a:gd name="adj" fmla="val 18868"/>
            </a:avLst>
          </a:prstGeom>
          <a:solidFill>
            <a:srgbClr val="DDEDE8"/>
          </a:solidFill>
          <a:ln w="12700">
            <a:solidFill>
              <a:srgbClr val="DDED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" y="5769864"/>
            <a:ext cx="10753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5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Critère décisif  →  un bénéfice concret non satisfait par l’offre dominante, formulable dans le nom et la description du jeu.</a:t>
            </a:r>
            <a:endParaRPr lang="en-US" sz="1255" dirty="0"/>
          </a:p>
        </p:txBody>
      </p:sp>
      <p:sp>
        <p:nvSpPr>
          <p:cNvPr id="52" name="Text 50"/>
          <p:cNvSpPr/>
          <p:nvPr/>
        </p:nvSpPr>
        <p:spPr>
          <a:xfrm>
            <a:off x="521208" y="6345936"/>
            <a:ext cx="10927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788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 Synthèse éditoriale fondée sur données AppMagic, AppBrain et avis Apple ; « demande/rivalité » = jugement qualitatif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DE L’ENTONNOIR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concepts à envisager pour une acquisition organique ciblée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12064" y="111556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mots-clés ci-dessous sont de vrais axes de positionnement, mais aucun volume de requête exact n’est publiquement confirmé.</a:t>
            </a:r>
            <a:endParaRPr lang="en-US" sz="126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CE1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ÉTUDE DE MARCHÉ  •  OCTOBRE 2026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100816" y="6583680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07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02920" y="1792224"/>
            <a:ext cx="3611880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020824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F2E2D8"/>
          </a:solidFill>
          <a:ln w="12700">
            <a:solidFill>
              <a:srgbClr val="F2E2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0436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3447288" y="205740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2468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DAILY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2953512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Grille à règle inédite : progression quotidienne et partie calme, hors ligne.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38221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CIBLAGE ASO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" y="4041648"/>
            <a:ext cx="31363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grid · jeu de logique · nonogram expert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" y="4690872"/>
            <a:ext cx="3182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Meowdoku/Nonogram : avis sur pubs et confort de jeu.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334256" y="1792224"/>
            <a:ext cx="3611880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44568" y="2020824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F2E2D8"/>
          </a:solidFill>
          <a:ln w="12700">
            <a:solidFill>
              <a:srgbClr val="F2E2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0436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7278624" y="205740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44568" y="2468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PARK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44568" y="2953512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Petits défis de conduite : manœuvrer avec précision plutôt que conduire sans fin.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44568" y="38221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CIBLAGE ASO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44568" y="4041648"/>
            <a:ext cx="31363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puzzle · parking offline · précision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44568" y="4690872"/>
            <a:ext cx="3182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Masters : avis sur pubs et étapes jugées trop courtes.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165592" y="1792224"/>
            <a:ext cx="3611880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75904" y="2020824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F2E2D8"/>
          </a:solidFill>
          <a:ln w="12700">
            <a:solidFill>
              <a:srgbClr val="F2E2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20436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251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11109960" y="205740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75904" y="2468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EXPERT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375904" y="2953512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D2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 mêlés progressifs : grands formats, vrais niveaux difficiles et dictionnaire FR.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75904" y="38221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CIBLAGE ASO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75904" y="4041648"/>
            <a:ext cx="31363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8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 mêlés difficiles · mots adultes · sans pub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75904" y="4690872"/>
            <a:ext cx="3182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 Mêlés / WoW : avis sur répétition et fréquence des pubs.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30352" y="5541264"/>
            <a:ext cx="11091672" cy="429768"/>
          </a:xfrm>
          <a:prstGeom prst="roundRect">
            <a:avLst>
              <a:gd name="adj" fmla="val 19149"/>
            </a:avLst>
          </a:prstGeom>
          <a:solidFill>
            <a:srgbClr val="1D2224"/>
          </a:solidFill>
          <a:ln w="12700">
            <a:solidFill>
              <a:srgbClr val="1D22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623560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: choisir le concept dont la promesse est la plus précise — PAS celui qui copie le jeu le plus téléchargé.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530352" y="608076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PRINCIPALES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2340864" y="6071616"/>
            <a:ext cx="9253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u="sng" dirty="0">
                <a:solidFill>
                  <a:srgbClr val="667074"/>
                </a:solidFill>
                <a:uFill>
                  <a:solidFill>
                    <a:srgbClr val="335D86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Sensor Tower</a:t>
            </a:r>
            <a:pPr indent="0" marL="0">
              <a:buNone/>
            </a:pPr>
            <a:r>
              <a:rPr lang="en-US" sz="80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</a:t>
            </a:r>
            <a:pPr indent="0" marL="0">
              <a:buNone/>
            </a:pPr>
            <a:r>
              <a:rPr lang="en-US" sz="800" u="sng" dirty="0">
                <a:solidFill>
                  <a:srgbClr val="667074"/>
                </a:solidFill>
                <a:uFill>
                  <a:solidFill>
                    <a:srgbClr val="335D86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Testers Community</a:t>
            </a:r>
            <a:pPr indent="0" marL="0">
              <a:buNone/>
            </a:pPr>
            <a:r>
              <a:rPr lang="en-US" sz="80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</a:t>
            </a:r>
            <a:pPr indent="0" marL="0">
              <a:buNone/>
            </a:pPr>
            <a:r>
              <a:rPr lang="en-US" sz="800" u="sng" dirty="0">
                <a:solidFill>
                  <a:srgbClr val="667074"/>
                </a:solidFill>
                <a:uFill>
                  <a:solidFill>
                    <a:srgbClr val="335D86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AppMagic H1</a:t>
            </a:r>
            <a:pPr indent="0" marL="0">
              <a:buNone/>
            </a:pPr>
            <a:r>
              <a:rPr lang="en-US" sz="80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</a:t>
            </a:r>
            <a:pPr indent="0" marL="0">
              <a:buNone/>
            </a:pPr>
            <a:r>
              <a:rPr lang="en-US" sz="800" u="sng" dirty="0">
                <a:solidFill>
                  <a:srgbClr val="667074"/>
                </a:solidFill>
                <a:uFill>
                  <a:solidFill>
                    <a:srgbClr val="335D86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AppBrain FR</a:t>
            </a:r>
            <a:pPr indent="0" marL="0">
              <a:buNone/>
            </a:pPr>
            <a:r>
              <a:rPr lang="en-US" sz="80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</a:t>
            </a:r>
            <a:pPr indent="0" marL="0">
              <a:buNone/>
            </a:pPr>
            <a:r>
              <a:rPr lang="en-US" sz="800" u="sng" dirty="0">
                <a:solidFill>
                  <a:srgbClr val="667074"/>
                </a:solidFill>
                <a:uFill>
                  <a:solidFill>
                    <a:srgbClr val="335D86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Avis App Store FR</a:t>
            </a:r>
            <a:pPr indent="0" marL="0">
              <a:buNone/>
            </a:pPr>
            <a:r>
              <a:rPr lang="en-US" sz="800" dirty="0">
                <a:solidFill>
                  <a:srgbClr val="667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</a:t>
            </a:r>
            <a:pPr indent="0" marL="0">
              <a:buNone/>
            </a:pPr>
            <a:r>
              <a:rPr lang="en-US" sz="800" u="sng" dirty="0">
                <a:solidFill>
                  <a:srgbClr val="667074"/>
                </a:solidFill>
                <a:uFill>
                  <a:solidFill>
                    <a:srgbClr val="335D86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Apple ASO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Jeux mobiles 2026 — de la saturation à 3 niches ASO</dc:title>
  <dc:subject>Étude d’opportunité jeux mobiles ASO — octobre 2026</dc:subject>
  <dc:creator>OpenAI</dc:creator>
  <cp:lastModifiedBy>OpenAI</cp:lastModifiedBy>
  <cp:revision>1</cp:revision>
  <dcterms:created xsi:type="dcterms:W3CDTF">2026-10-24T09:35:44Z</dcterms:created>
  <dcterms:modified xsi:type="dcterms:W3CDTF">2026-10-24T09:35:44Z</dcterms:modified>
</cp:coreProperties>
</file>